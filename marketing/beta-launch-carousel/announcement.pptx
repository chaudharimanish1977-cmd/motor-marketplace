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875520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9875520"/>
          </a:xfrm>
          <a:prstGeom prst="rect">
            <a:avLst/>
          </a:prstGeom>
          <a:solidFill>
            <a:srgbClr val="13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500">
                <a:solidFill>
                  <a:srgbClr val="A8BAA0"/>
                </a:solidFill>
                <a:latin typeface="JetBrains Mono"/>
              </a:rPr>
              <a:t>· · ·  BETA IS LIVE  · · 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877824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600" b="0" i="0">
                <a:solidFill>
                  <a:srgbClr val="F3EEF0"/>
                </a:solidFill>
                <a:latin typeface="Newsreader"/>
              </a:rPr>
              <a:t>Most owners read their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877824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0" b="1" i="1">
                <a:solidFill>
                  <a:srgbClr val="C485C9"/>
                </a:solidFill>
                <a:latin typeface="Newsreader"/>
              </a:rPr>
              <a:t>once.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703320" y="5852160"/>
            <a:ext cx="2468880" cy="48000"/>
          </a:xfrm>
          <a:prstGeom prst="rect">
            <a:avLst/>
          </a:prstGeom>
          <a:solidFill>
            <a:srgbClr val="A8B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0" i="1">
                <a:solidFill>
                  <a:srgbClr val="F3EEF0"/>
                </a:solidFill>
                <a:latin typeface="Newsreader"/>
              </a:rPr>
              <a:t>After it’s too late.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2736" y="8851392"/>
            <a:ext cx="2926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 i="1">
                <a:solidFill>
                  <a:srgbClr val="C485C9"/>
                </a:solidFill>
                <a:latin typeface="Newsreader"/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41064" y="8887968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spc="300">
                <a:solidFill>
                  <a:srgbClr val="F3EEF0"/>
                </a:solidFill>
                <a:latin typeface="Newsreader"/>
              </a:rPr>
              <a:t>RIGHTOFFER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9864" y="8942832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A8B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 spc="300">
                <a:solidFill>
                  <a:srgbClr val="13100F"/>
                </a:solidFill>
                <a:latin typeface="JetBrains Mono"/>
              </a:rPr>
              <a:t>CAR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9875520"/>
          </a:xfrm>
          <a:prstGeom prst="rect">
            <a:avLst/>
          </a:prstGeom>
          <a:solidFill>
            <a:srgbClr val="13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500">
                <a:solidFill>
                  <a:srgbClr val="A8BAA0"/>
                </a:solidFill>
                <a:latin typeface="JetBrains Mono"/>
              </a:rPr>
              <a:t>· · ·  WHY WE BUILT THIS  · · 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822960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3200" b="0" i="0">
                <a:solidFill>
                  <a:srgbClr val="F3EEF0"/>
                </a:solidFill>
                <a:latin typeface="Newsreader"/>
              </a:rPr>
              <a:t>Someone close to us discovered </a:t>
            </a:r>
            <a:r>
              <a:rPr sz="3200" b="0" i="1">
                <a:solidFill>
                  <a:srgbClr val="C485C9"/>
                </a:solidFill>
                <a:latin typeface="Newsreader"/>
              </a:rPr>
              <a:t>at claim time</a:t>
            </a:r>
            <a:r>
              <a:rPr sz="3200" b="0" i="0">
                <a:solidFill>
                  <a:srgbClr val="F3EEF0"/>
                </a:solidFill>
                <a:latin typeface="Newsreader"/>
              </a:rPr>
              <a:t> that their motor policy didn’t actually cover their car.</a:t>
            </a:r>
          </a:p>
          <a:p>
            <a:pPr algn="ctr">
              <a:lnSpc>
                <a:spcPct val="135000"/>
              </a:lnSpc>
            </a:pPr>
            <a:r>
              <a:rPr sz="1800" b="0" i="0">
                <a:solidFill>
                  <a:srgbClr val="F3EEF0"/>
                </a:solidFill>
                <a:latin typeface="Newsreader"/>
              </a:rPr>
              <a:t> </a:t>
            </a:r>
          </a:p>
          <a:p>
            <a:pPr algn="ctr">
              <a:lnSpc>
                <a:spcPct val="135000"/>
              </a:lnSpc>
            </a:pPr>
            <a:r>
              <a:rPr sz="2600" b="0" i="1">
                <a:solidFill>
                  <a:srgbClr val="F3EEF0"/>
                </a:solidFill>
                <a:latin typeface="Newsreader"/>
              </a:rPr>
              <a:t>So we built the audit nobody else was going to.</a:t>
            </a:r>
          </a:p>
        </p:txBody>
      </p:sp>
      <p:pic>
        <p:nvPicPr>
          <p:cNvPr id="5" name="Picture 4" descr="lou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6583680"/>
            <a:ext cx="2468880" cy="19257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9875520"/>
          </a:xfrm>
          <a:prstGeom prst="rect">
            <a:avLst/>
          </a:prstGeom>
          <a:solidFill>
            <a:srgbClr val="13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500">
                <a:solidFill>
                  <a:srgbClr val="A8BAA0"/>
                </a:solidFill>
                <a:latin typeface="JetBrains Mono"/>
              </a:rPr>
              <a:t>· · ·  GAP CAUGHT  · · 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0" i="0">
                <a:solidFill>
                  <a:srgbClr val="F3EEF0"/>
                </a:solidFill>
                <a:latin typeface="Newsreader"/>
              </a:rPr>
              <a:t>Zero-depreciation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1">
                <a:solidFill>
                  <a:srgbClr val="C485C9"/>
                </a:solidFill>
                <a:latin typeface="Newsreader"/>
              </a:rPr>
              <a:t>expired silently.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96112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0" b="1" i="0">
                <a:solidFill>
                  <a:srgbClr val="F3EEF0"/>
                </a:solidFill>
                <a:latin typeface="Newsreader"/>
              </a:rPr>
              <a:t>~ ₹38,000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00800"/>
            <a:ext cx="80467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000" b="0" i="1">
                <a:solidFill>
                  <a:srgbClr val="F3EEF0"/>
                </a:solidFill>
                <a:latin typeface="Newsreader"/>
              </a:rPr>
              <a:t>What it would have cost on a routine accident claim.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7772400"/>
            <a:ext cx="2560320" cy="12700"/>
          </a:xfrm>
          <a:prstGeom prst="rect">
            <a:avLst/>
          </a:prstGeom>
          <a:solidFill>
            <a:srgbClr val="A8B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80467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 spc="300">
                <a:solidFill>
                  <a:srgbClr val="9A8F98"/>
                </a:solidFill>
                <a:latin typeface="JetBrains Mono"/>
              </a:rPr>
              <a:t>Representative audit finding · anonymised composite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9875520"/>
          </a:xfrm>
          <a:prstGeom prst="rect">
            <a:avLst/>
          </a:prstGeom>
          <a:solidFill>
            <a:srgbClr val="13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500">
                <a:solidFill>
                  <a:srgbClr val="A8BAA0"/>
                </a:solidFill>
                <a:latin typeface="JetBrains Mono"/>
              </a:rPr>
              <a:t>· · ·  FORWARD YOUR POLICY  · · ·</a:t>
            </a:r>
          </a:p>
        </p:txBody>
      </p:sp>
      <p:pic>
        <p:nvPicPr>
          <p:cNvPr id="4" name="Picture 3" descr="envel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920240"/>
            <a:ext cx="2560320" cy="20482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48056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spc="500">
                <a:solidFill>
                  <a:srgbClr val="A8BAA0"/>
                </a:solidFill>
                <a:latin typeface="JetBrains Mono"/>
              </a:rPr>
              <a:t>FORWARD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0"/>
            <a:ext cx="91440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 i="1">
                <a:solidFill>
                  <a:srgbClr val="C485C9"/>
                </a:solidFill>
                <a:latin typeface="Newsreader"/>
              </a:rPr>
              <a:t>review@rightoffer.in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6080760"/>
            <a:ext cx="7132320" cy="36000"/>
          </a:xfrm>
          <a:prstGeom prst="rect">
            <a:avLst/>
          </a:prstGeom>
          <a:solidFill>
            <a:srgbClr val="A8B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75120"/>
            <a:ext cx="8595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0" i="1">
                <a:solidFill>
                  <a:srgbClr val="F3EEF0"/>
                </a:solidFill>
                <a:latin typeface="Newsreader"/>
              </a:rPr>
              <a:t>Two </a:t>
            </a:r>
            <a:r>
              <a:rPr sz="2400" b="0" i="1">
                <a:solidFill>
                  <a:srgbClr val="F3EEF0"/>
                </a:solidFill>
                <a:latin typeface="Newsreader"/>
              </a:rPr>
              <a:t>minutes. </a:t>
            </a:r>
            <a:r>
              <a:rPr sz="2400" b="1" i="1">
                <a:solidFill>
                  <a:srgbClr val="A8BAA0"/>
                </a:solidFill>
                <a:latin typeface="Newsreader"/>
              </a:rPr>
              <a:t>Free. </a:t>
            </a:r>
            <a:r>
              <a:rPr sz="2400" b="1" i="1">
                <a:solidFill>
                  <a:srgbClr val="A8BAA0"/>
                </a:solidFill>
                <a:latin typeface="Newsreader"/>
              </a:rPr>
              <a:t>No </a:t>
            </a:r>
            <a:r>
              <a:rPr sz="2400" b="1" i="1">
                <a:solidFill>
                  <a:srgbClr val="A8BAA0"/>
                </a:solidFill>
                <a:latin typeface="Newsreader"/>
              </a:rPr>
              <a:t>signup.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2736" y="8851392"/>
            <a:ext cx="2926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 i="1">
                <a:solidFill>
                  <a:srgbClr val="C485C9"/>
                </a:solidFill>
                <a:latin typeface="Newsreader"/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41064" y="8887968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spc="300">
                <a:solidFill>
                  <a:srgbClr val="F3EEF0"/>
                </a:solidFill>
                <a:latin typeface="Newsreader"/>
              </a:rPr>
              <a:t>RIGHTOFFER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9864" y="8942832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A8B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 spc="300">
                <a:solidFill>
                  <a:srgbClr val="13100F"/>
                </a:solidFill>
                <a:latin typeface="JetBrains Mono"/>
              </a:rPr>
              <a:t>CAR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9875520"/>
          </a:xfrm>
          <a:prstGeom prst="rect">
            <a:avLst/>
          </a:prstGeom>
          <a:solidFill>
            <a:srgbClr val="13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500">
                <a:solidFill>
                  <a:srgbClr val="A8BAA0"/>
                </a:solidFill>
                <a:latin typeface="JetBrains Mono"/>
              </a:rPr>
              <a:t>· · ·  WHAT’S NEXT  · · 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8778240" cy="3291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0" i="0">
                <a:solidFill>
                  <a:srgbClr val="9A8F98"/>
                </a:solidFill>
                <a:latin typeface="Newsreader"/>
              </a:rPr>
              <a:t>Phase 1: </a:t>
            </a:r>
            <a:r>
              <a:rPr sz="4400" b="0" i="0">
                <a:solidFill>
                  <a:srgbClr val="F3EEF0"/>
                </a:solidFill>
                <a:latin typeface="Newsreader"/>
              </a:rPr>
              <a:t>the audit.</a:t>
            </a:r>
          </a:p>
          <a:p>
            <a:pPr algn="ctr">
              <a:lnSpc>
                <a:spcPct val="120000"/>
              </a:lnSpc>
            </a:pPr>
            <a:r>
              <a:rPr sz="4400" b="0" i="0">
                <a:solidFill>
                  <a:srgbClr val="9A8F98"/>
                </a:solidFill>
                <a:latin typeface="Newsreader"/>
              </a:rPr>
              <a:t>Phase 2: </a:t>
            </a:r>
            <a:r>
              <a:rPr sz="4400" b="0" i="1">
                <a:solidFill>
                  <a:srgbClr val="C485C9"/>
                </a:solidFill>
                <a:latin typeface="Newsreader"/>
              </a:rPr>
              <a:t>something bigger.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0"/>
            <a:ext cx="8595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800" b="1" i="1">
                <a:solidFill>
                  <a:srgbClr val="A8BAA0"/>
                </a:solidFill>
                <a:latin typeface="Newsreader"/>
              </a:rPr>
              <a:t>Stay </a:t>
            </a:r>
            <a:r>
              <a:rPr sz="2800" b="1" i="1">
                <a:solidFill>
                  <a:srgbClr val="A8BAA0"/>
                </a:solidFill>
                <a:latin typeface="Newsreader"/>
              </a:rPr>
              <a:t>close.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2736" y="8851392"/>
            <a:ext cx="2926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 i="1">
                <a:solidFill>
                  <a:srgbClr val="C485C9"/>
                </a:solidFill>
                <a:latin typeface="Newsreader"/>
              </a:rPr>
              <a:t>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41064" y="8887968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spc="300">
                <a:solidFill>
                  <a:srgbClr val="F3EEF0"/>
                </a:solidFill>
                <a:latin typeface="Newsreader"/>
              </a:rPr>
              <a:t>RIGHTOFFER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9864" y="8942832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A8B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 spc="300">
                <a:solidFill>
                  <a:srgbClr val="13100F"/>
                </a:solidFill>
                <a:latin typeface="JetBrains Mono"/>
              </a:rPr>
              <a:t>CAR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