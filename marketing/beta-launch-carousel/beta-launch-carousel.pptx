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875520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9875520"/>
          </a:xfrm>
          <a:prstGeom prst="rect">
            <a:avLst/>
          </a:prstGeom>
          <a:solidFill>
            <a:srgbClr val="13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500">
                <a:solidFill>
                  <a:srgbClr val="A8BAA0"/>
                </a:solidFill>
                <a:latin typeface="JetBrains Mono"/>
              </a:rPr>
              <a:t>· · ·  BETA IS LIVE  · · 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877824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5400" b="0" i="0">
                <a:solidFill>
                  <a:srgbClr val="F3EEF0"/>
                </a:solidFill>
                <a:latin typeface="Newsreader"/>
              </a:rPr>
              <a:t>Your motor insurance,</a:t>
            </a:r>
          </a:p>
          <a:p>
            <a:pPr algn="ctr">
              <a:lnSpc>
                <a:spcPct val="110000"/>
              </a:lnSpc>
            </a:pPr>
            <a:r>
              <a:rPr sz="5400" b="0" i="1">
                <a:solidFill>
                  <a:srgbClr val="C485C9"/>
                </a:solidFill>
                <a:latin typeface="Newsreader"/>
              </a:rPr>
              <a:t>audited.</a:t>
            </a:r>
          </a:p>
        </p:txBody>
      </p:sp>
      <p:pic>
        <p:nvPicPr>
          <p:cNvPr id="5" name="Picture 4" descr="car-p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5760720"/>
            <a:ext cx="3657600" cy="1828800"/>
          </a:xfrm>
          <a:prstGeom prst="rect">
            <a:avLst/>
          </a:prstGeom>
        </p:spPr>
      </p:pic>
      <p:pic>
        <p:nvPicPr>
          <p:cNvPr id="6" name="Picture 5" descr="motion-pl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7040880"/>
            <a:ext cx="54864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7863840"/>
            <a:ext cx="8595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0" i="1">
                <a:solidFill>
                  <a:srgbClr val="F3EEF0"/>
                </a:solidFill>
                <a:latin typeface="Newsreader"/>
              </a:rPr>
              <a:t>One </a:t>
            </a:r>
            <a:r>
              <a:rPr sz="2200" b="0" i="1">
                <a:solidFill>
                  <a:srgbClr val="F3EEF0"/>
                </a:solidFill>
                <a:latin typeface="Newsreader"/>
              </a:rPr>
              <a:t>email </a:t>
            </a:r>
            <a:r>
              <a:rPr sz="2200" b="0" i="1">
                <a:solidFill>
                  <a:srgbClr val="F3EEF0"/>
                </a:solidFill>
                <a:latin typeface="Newsreader"/>
              </a:rPr>
              <a:t>forward. </a:t>
            </a:r>
            <a:r>
              <a:rPr sz="2200" b="1" i="1">
                <a:solidFill>
                  <a:srgbClr val="A8BAA0"/>
                </a:solidFill>
                <a:latin typeface="Newsreader"/>
              </a:rPr>
              <a:t>Two </a:t>
            </a:r>
            <a:r>
              <a:rPr sz="2200" b="1" i="1">
                <a:solidFill>
                  <a:srgbClr val="A8BAA0"/>
                </a:solidFill>
                <a:latin typeface="Newsreader"/>
              </a:rPr>
              <a:t>minutes. </a:t>
            </a:r>
            <a:r>
              <a:rPr sz="2200" b="1" i="1">
                <a:solidFill>
                  <a:srgbClr val="A8BAA0"/>
                </a:solidFill>
                <a:latin typeface="Newsreader"/>
              </a:rPr>
              <a:t>Free.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2736" y="8851392"/>
            <a:ext cx="2926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1">
                <a:solidFill>
                  <a:srgbClr val="C485C9"/>
                </a:solidFill>
                <a:latin typeface="Newsreader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1064" y="8887968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spc="300">
                <a:solidFill>
                  <a:srgbClr val="F3EEF0"/>
                </a:solidFill>
                <a:latin typeface="Newsreader"/>
              </a:rPr>
              <a:t>RIGHTOFFER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9864" y="8942832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 spc="300">
                <a:solidFill>
                  <a:srgbClr val="13100F"/>
                </a:solidFill>
                <a:latin typeface="JetBrains Mono"/>
              </a:rPr>
              <a:t>CAR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9875520"/>
          </a:xfrm>
          <a:prstGeom prst="rect">
            <a:avLst/>
          </a:prstGeom>
          <a:solidFill>
            <a:srgbClr val="13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500">
                <a:solidFill>
                  <a:srgbClr val="A8BAA0"/>
                </a:solidFill>
                <a:latin typeface="JetBrains Mono"/>
              </a:rPr>
              <a:t>· · ·  WHAT WE DO  · · 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8778240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5800" b="0" i="0">
                <a:solidFill>
                  <a:srgbClr val="F3EEF0"/>
                </a:solidFill>
                <a:latin typeface="Newsreader"/>
              </a:rPr>
              <a:t>We </a:t>
            </a:r>
            <a:r>
              <a:rPr sz="5800" b="0" i="1">
                <a:solidFill>
                  <a:srgbClr val="C485C9"/>
                </a:solidFill>
                <a:latin typeface="Newsreader"/>
              </a:rPr>
              <a:t>read</a:t>
            </a:r>
            <a:r>
              <a:rPr sz="5800" b="0" i="0">
                <a:solidFill>
                  <a:srgbClr val="F3EEF0"/>
                </a:solidFill>
                <a:latin typeface="Newsreader"/>
              </a:rPr>
              <a:t> it.</a:t>
            </a:r>
          </a:p>
          <a:p>
            <a:pPr algn="ctr">
              <a:lnSpc>
                <a:spcPct val="110000"/>
              </a:lnSpc>
            </a:pPr>
            <a:r>
              <a:rPr sz="4400" b="0" i="1">
                <a:solidFill>
                  <a:srgbClr val="F3EEF0"/>
                </a:solidFill>
                <a:latin typeface="Newsreader"/>
              </a:rPr>
              <a:t>So you don’t have to.</a:t>
            </a:r>
          </a:p>
        </p:txBody>
      </p:sp>
      <p:pic>
        <p:nvPicPr>
          <p:cNvPr id="5" name="Picture 4" descr="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5120640"/>
            <a:ext cx="2468880" cy="19257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7772400"/>
            <a:ext cx="8595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0" i="1">
                <a:solidFill>
                  <a:srgbClr val="F3EEF0"/>
                </a:solidFill>
                <a:latin typeface="Newsreader"/>
              </a:rPr>
              <a:t>Fifteen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pages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of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fine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print.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We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read </a:t>
            </a:r>
            <a:r>
              <a:rPr sz="2000" b="1" i="1">
                <a:solidFill>
                  <a:srgbClr val="A8BAA0"/>
                </a:solidFill>
                <a:latin typeface="Newsreader"/>
              </a:rPr>
              <a:t>every </a:t>
            </a:r>
            <a:r>
              <a:rPr sz="2000" b="1" i="1">
                <a:solidFill>
                  <a:srgbClr val="A8BAA0"/>
                </a:solidFill>
                <a:latin typeface="Newsreader"/>
              </a:rPr>
              <a:t>line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and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tell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you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what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to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9875520"/>
          </a:xfrm>
          <a:prstGeom prst="rect">
            <a:avLst/>
          </a:prstGeom>
          <a:solidFill>
            <a:srgbClr val="13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500">
                <a:solidFill>
                  <a:srgbClr val="A8BAA0"/>
                </a:solidFill>
                <a:latin typeface="JetBrains Mono"/>
              </a:rPr>
              <a:t>· · ·  WHAT’S AT STAKE  · · 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77824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5800" b="0" i="0">
                <a:solidFill>
                  <a:srgbClr val="F3EEF0"/>
                </a:solidFill>
                <a:latin typeface="Newsreader"/>
              </a:rPr>
              <a:t>Most policies have</a:t>
            </a:r>
          </a:p>
          <a:p>
            <a:pPr algn="ctr">
              <a:lnSpc>
                <a:spcPct val="110000"/>
              </a:lnSpc>
            </a:pPr>
            <a:r>
              <a:rPr sz="5800" b="0" i="1">
                <a:solidFill>
                  <a:srgbClr val="C485C9"/>
                </a:solidFill>
                <a:latin typeface="Newsreader"/>
              </a:rPr>
              <a:t>a gap.</a:t>
            </a:r>
          </a:p>
        </p:txBody>
      </p:sp>
      <p:pic>
        <p:nvPicPr>
          <p:cNvPr id="5" name="Picture 4" descr="lou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4937760"/>
            <a:ext cx="2468880" cy="19257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7680960"/>
            <a:ext cx="8595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900" b="0" i="1">
                <a:solidFill>
                  <a:srgbClr val="F3EEF0"/>
                </a:solidFill>
                <a:latin typeface="Newsreader"/>
              </a:rPr>
              <a:t>Zero-dep </a:t>
            </a:r>
            <a:r>
              <a:rPr sz="1900" b="0" i="1">
                <a:solidFill>
                  <a:srgbClr val="F3EEF0"/>
                </a:solidFill>
                <a:latin typeface="Newsreader"/>
              </a:rPr>
              <a:t>that </a:t>
            </a:r>
            <a:r>
              <a:rPr sz="1900" b="1" i="1">
                <a:solidFill>
                  <a:srgbClr val="A8BAA0"/>
                </a:solidFill>
                <a:latin typeface="Newsreader"/>
              </a:rPr>
              <a:t>expired. </a:t>
            </a:r>
            <a:r>
              <a:rPr sz="1900" b="0" i="1">
                <a:solidFill>
                  <a:srgbClr val="F3EEF0"/>
                </a:solidFill>
                <a:latin typeface="Newsreader"/>
              </a:rPr>
              <a:t>IDV </a:t>
            </a:r>
            <a:r>
              <a:rPr sz="1900" b="0" i="1">
                <a:solidFill>
                  <a:srgbClr val="F3EEF0"/>
                </a:solidFill>
                <a:latin typeface="Newsreader"/>
              </a:rPr>
              <a:t>set </a:t>
            </a:r>
            <a:r>
              <a:rPr sz="1900" b="1" i="1">
                <a:solidFill>
                  <a:srgbClr val="A8BAA0"/>
                </a:solidFill>
                <a:latin typeface="Newsreader"/>
              </a:rPr>
              <a:t>below </a:t>
            </a:r>
            <a:r>
              <a:rPr sz="1900" b="1" i="1">
                <a:solidFill>
                  <a:srgbClr val="A8BAA0"/>
                </a:solidFill>
                <a:latin typeface="Newsreader"/>
              </a:rPr>
              <a:t>market. </a:t>
            </a:r>
            <a:r>
              <a:rPr sz="1900" b="0" i="1">
                <a:solidFill>
                  <a:srgbClr val="F3EEF0"/>
                </a:solidFill>
                <a:latin typeface="Newsreader"/>
              </a:rPr>
              <a:t>Engine </a:t>
            </a:r>
            <a:r>
              <a:rPr sz="1900" b="0" i="1">
                <a:solidFill>
                  <a:srgbClr val="F3EEF0"/>
                </a:solidFill>
                <a:latin typeface="Newsreader"/>
              </a:rPr>
              <a:t>protector </a:t>
            </a:r>
            <a:r>
              <a:rPr sz="1900" b="0" i="1">
                <a:solidFill>
                  <a:srgbClr val="F3EEF0"/>
                </a:solidFill>
                <a:latin typeface="Newsreader"/>
              </a:rPr>
              <a:t>missing </a:t>
            </a:r>
            <a:r>
              <a:rPr sz="1900" b="0" i="1">
                <a:solidFill>
                  <a:srgbClr val="F3EEF0"/>
                </a:solidFill>
                <a:latin typeface="Newsreader"/>
              </a:rPr>
              <a:t>on </a:t>
            </a:r>
            <a:r>
              <a:rPr sz="1900" b="0" i="1">
                <a:solidFill>
                  <a:srgbClr val="F3EEF0"/>
                </a:solidFill>
                <a:latin typeface="Newsreader"/>
              </a:rPr>
              <a:t>a </a:t>
            </a:r>
            <a:r>
              <a:rPr sz="1900" b="0" i="1">
                <a:solidFill>
                  <a:srgbClr val="F3EEF0"/>
                </a:solidFill>
                <a:latin typeface="Newsreader"/>
              </a:rPr>
              <a:t>new </a:t>
            </a:r>
            <a:r>
              <a:rPr sz="1900" b="0" i="1">
                <a:solidFill>
                  <a:srgbClr val="F3EEF0"/>
                </a:solidFill>
                <a:latin typeface="Newsreader"/>
              </a:rPr>
              <a:t>car.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9875520"/>
          </a:xfrm>
          <a:prstGeom prst="rect">
            <a:avLst/>
          </a:prstGeom>
          <a:solidFill>
            <a:srgbClr val="13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500">
                <a:solidFill>
                  <a:srgbClr val="A8BAA0"/>
                </a:solidFill>
                <a:latin typeface="JetBrains Mono"/>
              </a:rPr>
              <a:t>· · ·  THE WEDGE  · · 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877824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6000" b="0" i="0">
                <a:solidFill>
                  <a:srgbClr val="F3EEF0"/>
                </a:solidFill>
                <a:latin typeface="Newsreader"/>
              </a:rPr>
              <a:t>An </a:t>
            </a:r>
            <a:r>
              <a:rPr sz="6000" b="0" i="1">
                <a:solidFill>
                  <a:srgbClr val="C485C9"/>
                </a:solidFill>
                <a:latin typeface="Newsreader"/>
              </a:rPr>
              <a:t>honest</a:t>
            </a:r>
            <a:r>
              <a:rPr sz="6000" b="0" i="0">
                <a:solidFill>
                  <a:srgbClr val="F3EEF0"/>
                </a:solidFill>
                <a:latin typeface="Newsreader"/>
              </a:rPr>
              <a:t> read.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 i="1">
                <a:solidFill>
                  <a:srgbClr val="F3EEF0"/>
                </a:solidFill>
                <a:latin typeface="Newsreader"/>
              </a:rPr>
              <a:t>Not a quote table.</a:t>
            </a:r>
          </a:p>
        </p:txBody>
      </p:sp>
      <p:pic>
        <p:nvPicPr>
          <p:cNvPr id="6" name="Picture 5" descr="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5212080"/>
            <a:ext cx="2468880" cy="19257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7863840"/>
            <a:ext cx="8595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 i="1">
                <a:solidFill>
                  <a:srgbClr val="A8BAA0"/>
                </a:solidFill>
                <a:latin typeface="Newsreader"/>
              </a:rPr>
              <a:t>No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comparator. </a:t>
            </a:r>
            <a:r>
              <a:rPr sz="2000" b="1" i="1">
                <a:solidFill>
                  <a:srgbClr val="A8BAA0"/>
                </a:solidFill>
                <a:latin typeface="Newsreader"/>
              </a:rPr>
              <a:t>No </a:t>
            </a:r>
            <a:r>
              <a:rPr sz="2000" b="1" i="1">
                <a:solidFill>
                  <a:srgbClr val="A8BAA0"/>
                </a:solidFill>
                <a:latin typeface="Newsreader"/>
              </a:rPr>
              <a:t>commission. </a:t>
            </a:r>
            <a:r>
              <a:rPr sz="2000" b="1" i="1">
                <a:solidFill>
                  <a:srgbClr val="A8BAA0"/>
                </a:solidFill>
                <a:latin typeface="Newsreader"/>
              </a:rPr>
              <a:t>No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insurer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push.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Just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what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your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policy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says.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9875520"/>
          </a:xfrm>
          <a:prstGeom prst="rect">
            <a:avLst/>
          </a:prstGeom>
          <a:solidFill>
            <a:srgbClr val="13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500">
                <a:solidFill>
                  <a:srgbClr val="A8BAA0"/>
                </a:solidFill>
                <a:latin typeface="JetBrains Mono"/>
              </a:rPr>
              <a:t>· · ·  HOW IT WORKS  · · 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89611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0" i="0">
                <a:solidFill>
                  <a:srgbClr val="F3EEF0"/>
                </a:solidFill>
                <a:latin typeface="Newsreader"/>
              </a:rPr>
              <a:t>From inbox to </a:t>
            </a:r>
            <a:r>
              <a:rPr sz="4600" b="0" i="1">
                <a:solidFill>
                  <a:srgbClr val="C485C9"/>
                </a:solidFill>
                <a:latin typeface="Newsreader"/>
              </a:rPr>
              <a:t>audit</a:t>
            </a:r>
            <a:r>
              <a:rPr sz="4600" b="0" i="0">
                <a:solidFill>
                  <a:srgbClr val="F3EEF0"/>
                </a:solidFill>
                <a:latin typeface="Newsreader"/>
              </a:rPr>
              <a:t>.</a:t>
            </a:r>
          </a:p>
        </p:txBody>
      </p:sp>
      <p:sp>
        <p:nvSpPr>
          <p:cNvPr id="5" name="Oval 4"/>
          <p:cNvSpPr/>
          <p:nvPr/>
        </p:nvSpPr>
        <p:spPr>
          <a:xfrm>
            <a:off x="3251345" y="5733288"/>
            <a:ext cx="54864" cy="54864"/>
          </a:xfrm>
          <a:prstGeom prst="ellipse">
            <a:avLst/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29722" y="5733288"/>
            <a:ext cx="54864" cy="54864"/>
          </a:xfrm>
          <a:prstGeom prst="ellipse">
            <a:avLst/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08099" y="5733288"/>
            <a:ext cx="54864" cy="54864"/>
          </a:xfrm>
          <a:prstGeom prst="ellipse">
            <a:avLst/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86476" y="5733288"/>
            <a:ext cx="54864" cy="54864"/>
          </a:xfrm>
          <a:prstGeom prst="ellipse">
            <a:avLst/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64853" y="5733288"/>
            <a:ext cx="54864" cy="54864"/>
          </a:xfrm>
          <a:prstGeom prst="ellipse">
            <a:avLst/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43230" y="5733288"/>
            <a:ext cx="54864" cy="54864"/>
          </a:xfrm>
          <a:prstGeom prst="ellipse">
            <a:avLst/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77425" y="5733288"/>
            <a:ext cx="54864" cy="54864"/>
          </a:xfrm>
          <a:prstGeom prst="ellipse">
            <a:avLst/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55802" y="5733288"/>
            <a:ext cx="54864" cy="54864"/>
          </a:xfrm>
          <a:prstGeom prst="ellipse">
            <a:avLst/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34179" y="5733288"/>
            <a:ext cx="54864" cy="54864"/>
          </a:xfrm>
          <a:prstGeom prst="ellipse">
            <a:avLst/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12556" y="5733288"/>
            <a:ext cx="54864" cy="54864"/>
          </a:xfrm>
          <a:prstGeom prst="ellipse">
            <a:avLst/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0933" y="5733288"/>
            <a:ext cx="54864" cy="54864"/>
          </a:xfrm>
          <a:prstGeom prst="ellipse">
            <a:avLst/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69310" y="5733288"/>
            <a:ext cx="54864" cy="54864"/>
          </a:xfrm>
          <a:prstGeom prst="ellipse">
            <a:avLst/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91640" y="4023360"/>
            <a:ext cx="640080" cy="640080"/>
          </a:xfrm>
          <a:prstGeom prst="ellipse">
            <a:avLst/>
          </a:prstGeom>
          <a:solidFill>
            <a:srgbClr val="C48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13100F"/>
                </a:solidFill>
                <a:latin typeface="Newsreader"/>
              </a:rPr>
              <a:t>1</a:t>
            </a:r>
          </a:p>
        </p:txBody>
      </p:sp>
      <p:pic>
        <p:nvPicPr>
          <p:cNvPr id="18" name="Picture 17" descr="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892040"/>
            <a:ext cx="1737360" cy="13551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" y="6720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spc="500">
                <a:solidFill>
                  <a:srgbClr val="A8BAA0"/>
                </a:solidFill>
                <a:latin typeface="JetBrains Mono"/>
              </a:rPr>
              <a:t>FORWARD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7178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1">
                <a:solidFill>
                  <a:srgbClr val="F3EEF0"/>
                </a:solidFill>
                <a:latin typeface="Newsreader"/>
              </a:rPr>
              <a:t>Email your policy</a:t>
            </a:r>
          </a:p>
        </p:txBody>
      </p:sp>
      <p:sp>
        <p:nvSpPr>
          <p:cNvPr id="21" name="Oval 20"/>
          <p:cNvSpPr/>
          <p:nvPr/>
        </p:nvSpPr>
        <p:spPr>
          <a:xfrm>
            <a:off x="4617720" y="4023360"/>
            <a:ext cx="640080" cy="640080"/>
          </a:xfrm>
          <a:prstGeom prst="ellipse">
            <a:avLst/>
          </a:prstGeom>
          <a:solidFill>
            <a:srgbClr val="C48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13100F"/>
                </a:solidFill>
                <a:latin typeface="Newsreader"/>
              </a:rPr>
              <a:t>2</a:t>
            </a:r>
          </a:p>
        </p:txBody>
      </p:sp>
      <p:pic>
        <p:nvPicPr>
          <p:cNvPr id="22" name="Picture 21" descr="lou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4892040"/>
            <a:ext cx="1737360" cy="135514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749040" y="6720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spc="500">
                <a:solidFill>
                  <a:srgbClr val="A8BAA0"/>
                </a:solidFill>
                <a:latin typeface="JetBrains Mono"/>
              </a:rPr>
              <a:t>READ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7178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1">
                <a:solidFill>
                  <a:srgbClr val="F3EEF0"/>
                </a:solidFill>
                <a:latin typeface="Newsreader"/>
              </a:rPr>
              <a:t>Aryan reads it</a:t>
            </a:r>
          </a:p>
        </p:txBody>
      </p:sp>
      <p:sp>
        <p:nvSpPr>
          <p:cNvPr id="25" name="Oval 24"/>
          <p:cNvSpPr/>
          <p:nvPr/>
        </p:nvSpPr>
        <p:spPr>
          <a:xfrm>
            <a:off x="7543800" y="4023360"/>
            <a:ext cx="640080" cy="640080"/>
          </a:xfrm>
          <a:prstGeom prst="ellipse">
            <a:avLst/>
          </a:prstGeom>
          <a:solidFill>
            <a:srgbClr val="C48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13100F"/>
                </a:solidFill>
                <a:latin typeface="Newsreader"/>
              </a:rPr>
              <a:t>3</a:t>
            </a:r>
          </a:p>
        </p:txBody>
      </p:sp>
      <p:pic>
        <p:nvPicPr>
          <p:cNvPr id="26" name="Picture 25" descr="verdi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892040"/>
            <a:ext cx="1737360" cy="135514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75120" y="6720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spc="500">
                <a:solidFill>
                  <a:srgbClr val="A8BAA0"/>
                </a:solidFill>
                <a:latin typeface="JetBrains Mono"/>
              </a:rPr>
              <a:t>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7178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1">
                <a:solidFill>
                  <a:srgbClr val="F3EEF0"/>
                </a:solidFill>
                <a:latin typeface="Newsreader"/>
              </a:rPr>
              <a:t>Lands in your inbox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8229600"/>
            <a:ext cx="8595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 i="1">
                <a:solidFill>
                  <a:srgbClr val="A8BAA0"/>
                </a:solidFill>
                <a:latin typeface="Newsreader"/>
              </a:rPr>
              <a:t>Two </a:t>
            </a:r>
            <a:r>
              <a:rPr sz="2000" b="1" i="1">
                <a:solidFill>
                  <a:srgbClr val="A8BAA0"/>
                </a:solidFill>
                <a:latin typeface="Newsreader"/>
              </a:rPr>
              <a:t>minutes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from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forward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to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audit.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No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app,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no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signup,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no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calls.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9875520"/>
          </a:xfrm>
          <a:prstGeom prst="rect">
            <a:avLst/>
          </a:prstGeom>
          <a:solidFill>
            <a:srgbClr val="13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500">
                <a:solidFill>
                  <a:srgbClr val="A8BAA0"/>
                </a:solidFill>
                <a:latin typeface="JetBrains Mono"/>
              </a:rPr>
              <a:t>· · ·  WHAT YOU’LL GET  · · 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89611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0" i="0">
                <a:solidFill>
                  <a:srgbClr val="F3EEF0"/>
                </a:solidFill>
                <a:latin typeface="Newsreader"/>
              </a:rPr>
              <a:t>Five things, </a:t>
            </a:r>
            <a:r>
              <a:rPr sz="4200" b="0" i="1">
                <a:solidFill>
                  <a:srgbClr val="C485C9"/>
                </a:solidFill>
                <a:latin typeface="Newsreader"/>
              </a:rPr>
              <a:t>one report</a:t>
            </a:r>
            <a:r>
              <a:rPr sz="4200" b="0" i="0">
                <a:solidFill>
                  <a:srgbClr val="F3EEF0"/>
                </a:solidFill>
                <a:latin typeface="Newsread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spc="300">
                <a:solidFill>
                  <a:srgbClr val="A8BAA0"/>
                </a:solidFill>
                <a:latin typeface="JetBrains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338328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F3EEF0"/>
                </a:solidFill>
                <a:latin typeface="Newsreader"/>
              </a:rPr>
              <a:t>Coverage snapshot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spc="300">
                <a:solidFill>
                  <a:srgbClr val="A8BAA0"/>
                </a:solidFill>
                <a:latin typeface="JetBrains Mon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416052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F3EEF0"/>
                </a:solidFill>
                <a:latin typeface="Newsreader"/>
              </a:rPr>
              <a:t>Gap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377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spc="300">
                <a:solidFill>
                  <a:srgbClr val="A8BAA0"/>
                </a:solidFill>
                <a:latin typeface="JetBrains Mono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493776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F3EEF0"/>
                </a:solidFill>
                <a:latin typeface="Newsreader"/>
              </a:rPr>
              <a:t>IDV cross-check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spc="300">
                <a:solidFill>
                  <a:srgbClr val="A8BAA0"/>
                </a:solidFill>
                <a:latin typeface="JetBrains Mono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71500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F3EEF0"/>
                </a:solidFill>
                <a:latin typeface="Newsreader"/>
              </a:rPr>
              <a:t>Add-on 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922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spc="300">
                <a:solidFill>
                  <a:srgbClr val="A8BAA0"/>
                </a:solidFill>
                <a:latin typeface="JetBrains Mono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649224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F3EEF0"/>
                </a:solidFill>
                <a:latin typeface="Newsreader"/>
              </a:rPr>
              <a:t>Renewal calendar</a:t>
            </a:r>
          </a:p>
        </p:txBody>
      </p:sp>
      <p:pic>
        <p:nvPicPr>
          <p:cNvPr id="15" name="Picture 14" descr="mini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108960"/>
            <a:ext cx="3657600" cy="396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8412480"/>
            <a:ext cx="8595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 i="1">
                <a:solidFill>
                  <a:srgbClr val="F3EEF0"/>
                </a:solidFill>
                <a:latin typeface="Newsreader"/>
              </a:rPr>
              <a:t>One </a:t>
            </a:r>
            <a:r>
              <a:rPr sz="1800" b="0" i="1">
                <a:solidFill>
                  <a:srgbClr val="F3EEF0"/>
                </a:solidFill>
                <a:latin typeface="Newsreader"/>
              </a:rPr>
              <a:t>audit. </a:t>
            </a:r>
            <a:r>
              <a:rPr sz="1800" b="0" i="1">
                <a:solidFill>
                  <a:srgbClr val="F3EEF0"/>
                </a:solidFill>
                <a:latin typeface="Newsreader"/>
              </a:rPr>
              <a:t>One </a:t>
            </a:r>
            <a:r>
              <a:rPr sz="1800" b="0" i="1">
                <a:solidFill>
                  <a:srgbClr val="F3EEF0"/>
                </a:solidFill>
                <a:latin typeface="Newsreader"/>
              </a:rPr>
              <a:t>report. </a:t>
            </a:r>
            <a:r>
              <a:rPr sz="1800" b="0" i="1">
                <a:solidFill>
                  <a:srgbClr val="F3EEF0"/>
                </a:solidFill>
                <a:latin typeface="Newsreader"/>
              </a:rPr>
              <a:t>Everything </a:t>
            </a:r>
            <a:r>
              <a:rPr sz="1800" b="0" i="1">
                <a:solidFill>
                  <a:srgbClr val="F3EEF0"/>
                </a:solidFill>
                <a:latin typeface="Newsreader"/>
              </a:rPr>
              <a:t>you </a:t>
            </a:r>
            <a:r>
              <a:rPr sz="1800" b="0" i="1">
                <a:solidFill>
                  <a:srgbClr val="F3EEF0"/>
                </a:solidFill>
                <a:latin typeface="Newsreader"/>
              </a:rPr>
              <a:t>need </a:t>
            </a:r>
            <a:r>
              <a:rPr sz="1800" b="0" i="1">
                <a:solidFill>
                  <a:srgbClr val="F3EEF0"/>
                </a:solidFill>
                <a:latin typeface="Newsreader"/>
              </a:rPr>
              <a:t>to </a:t>
            </a:r>
            <a:r>
              <a:rPr sz="1800" b="0" i="1">
                <a:solidFill>
                  <a:srgbClr val="F3EEF0"/>
                </a:solidFill>
                <a:latin typeface="Newsreader"/>
              </a:rPr>
              <a:t>renew </a:t>
            </a:r>
            <a:r>
              <a:rPr sz="1800" b="0" i="1">
                <a:solidFill>
                  <a:srgbClr val="F3EEF0"/>
                </a:solidFill>
                <a:latin typeface="Newsreader"/>
              </a:rPr>
              <a:t>with </a:t>
            </a:r>
            <a:r>
              <a:rPr sz="1800" b="1" i="1">
                <a:solidFill>
                  <a:srgbClr val="A8BAA0"/>
                </a:solidFill>
                <a:latin typeface="Newsreader"/>
              </a:rPr>
              <a:t>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9875520"/>
          </a:xfrm>
          <a:prstGeom prst="rect">
            <a:avLst/>
          </a:prstGeom>
          <a:solidFill>
            <a:srgbClr val="13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500">
                <a:solidFill>
                  <a:srgbClr val="A8BAA0"/>
                </a:solidFill>
                <a:latin typeface="JetBrains Mono"/>
              </a:rPr>
              <a:t>· · ·  HOW WE RATE  · · 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7782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i="0">
                <a:solidFill>
                  <a:srgbClr val="F3EEF0"/>
                </a:solidFill>
                <a:latin typeface="Newsreader"/>
              </a:rPr>
              <a:t>Every finding,</a:t>
            </a:r>
          </a:p>
          <a:p>
            <a:pPr algn="ctr">
              <a:lnSpc>
                <a:spcPct val="115000"/>
              </a:lnSpc>
            </a:pPr>
            <a:r>
              <a:rPr sz="4400" b="0" i="1">
                <a:solidFill>
                  <a:srgbClr val="C485C9"/>
                </a:solidFill>
                <a:latin typeface="Newsreader"/>
              </a:rPr>
              <a:t>on a 5-point scale.</a:t>
            </a:r>
          </a:p>
        </p:txBody>
      </p:sp>
      <p:pic>
        <p:nvPicPr>
          <p:cNvPr id="5" name="Picture 4" descr="spotlight-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0"/>
            <a:ext cx="1737360" cy="1737360"/>
          </a:xfrm>
          <a:prstGeom prst="rect">
            <a:avLst/>
          </a:prstGeom>
        </p:spPr>
      </p:pic>
      <p:pic>
        <p:nvPicPr>
          <p:cNvPr id="6" name="Picture 5" descr="smiley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23360"/>
            <a:ext cx="13716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532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 spc="300">
                <a:solidFill>
                  <a:srgbClr val="A8BAA0"/>
                </a:solidFill>
                <a:latin typeface="JetBrains Mon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9787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1">
                <a:solidFill>
                  <a:srgbClr val="F3EEF0"/>
                </a:solidFill>
                <a:latin typeface="Newsreader"/>
              </a:rPr>
              <a:t>Awful</a:t>
            </a:r>
          </a:p>
        </p:txBody>
      </p:sp>
      <p:pic>
        <p:nvPicPr>
          <p:cNvPr id="9" name="Picture 8" descr="spotlight-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840480"/>
            <a:ext cx="1737360" cy="1737360"/>
          </a:xfrm>
          <a:prstGeom prst="rect">
            <a:avLst/>
          </a:prstGeom>
        </p:spPr>
      </p:pic>
      <p:pic>
        <p:nvPicPr>
          <p:cNvPr id="10" name="Picture 9" descr="smiley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4023360"/>
            <a:ext cx="13716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68880" y="5532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 spc="300">
                <a:solidFill>
                  <a:srgbClr val="A8BAA0"/>
                </a:solidFill>
                <a:latin typeface="JetBrains Mon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589787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1">
                <a:solidFill>
                  <a:srgbClr val="F3EEF0"/>
                </a:solidFill>
                <a:latin typeface="Newsreader"/>
              </a:rPr>
              <a:t>Bad</a:t>
            </a:r>
          </a:p>
        </p:txBody>
      </p:sp>
      <p:pic>
        <p:nvPicPr>
          <p:cNvPr id="13" name="Picture 12" descr="spotlight-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3840480"/>
            <a:ext cx="1737360" cy="1737360"/>
          </a:xfrm>
          <a:prstGeom prst="rect">
            <a:avLst/>
          </a:prstGeom>
        </p:spPr>
      </p:pic>
      <p:pic>
        <p:nvPicPr>
          <p:cNvPr id="14" name="Picture 13" descr="smiley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4023360"/>
            <a:ext cx="1371600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51960" y="5532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 spc="300">
                <a:solidFill>
                  <a:srgbClr val="A8BAA0"/>
                </a:solidFill>
                <a:latin typeface="JetBrains Mon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589787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1">
                <a:solidFill>
                  <a:srgbClr val="F3EEF0"/>
                </a:solidFill>
                <a:latin typeface="Newsreader"/>
              </a:rPr>
              <a:t>Okay</a:t>
            </a:r>
          </a:p>
        </p:txBody>
      </p:sp>
      <p:pic>
        <p:nvPicPr>
          <p:cNvPr id="17" name="Picture 16" descr="spotlight-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3840480"/>
            <a:ext cx="1737360" cy="1737360"/>
          </a:xfrm>
          <a:prstGeom prst="rect">
            <a:avLst/>
          </a:prstGeom>
        </p:spPr>
      </p:pic>
      <p:pic>
        <p:nvPicPr>
          <p:cNvPr id="18" name="Picture 17" descr="smiley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4023360"/>
            <a:ext cx="1371600" cy="1371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35040" y="5532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 spc="300">
                <a:solidFill>
                  <a:srgbClr val="A8BAA0"/>
                </a:solidFill>
                <a:latin typeface="JetBrai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589787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1">
                <a:solidFill>
                  <a:srgbClr val="F3EEF0"/>
                </a:solidFill>
                <a:latin typeface="Newsreader"/>
              </a:rPr>
              <a:t>Good</a:t>
            </a:r>
          </a:p>
        </p:txBody>
      </p:sp>
      <p:pic>
        <p:nvPicPr>
          <p:cNvPr id="21" name="Picture 20" descr="spotlight-plu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3840480"/>
            <a:ext cx="1737360" cy="1737360"/>
          </a:xfrm>
          <a:prstGeom prst="rect">
            <a:avLst/>
          </a:prstGeom>
        </p:spPr>
      </p:pic>
      <p:pic>
        <p:nvPicPr>
          <p:cNvPr id="22" name="Picture 21" descr="smiley-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4023360"/>
            <a:ext cx="1371600" cy="1371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18120" y="5532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 spc="300">
                <a:solidFill>
                  <a:srgbClr val="A8BAA0"/>
                </a:solidFill>
                <a:latin typeface="JetBrai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589787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1">
                <a:solidFill>
                  <a:srgbClr val="C485C9"/>
                </a:solidFill>
                <a:latin typeface="Newsreader"/>
              </a:rPr>
              <a:t>Delighted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7863840"/>
            <a:ext cx="8595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0" i="1">
                <a:solidFill>
                  <a:srgbClr val="F3EEF0"/>
                </a:solidFill>
                <a:latin typeface="Newsreader"/>
              </a:rPr>
              <a:t>Every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gap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gets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a </a:t>
            </a:r>
            <a:r>
              <a:rPr sz="2000" b="1" i="1">
                <a:solidFill>
                  <a:srgbClr val="A8BAA0"/>
                </a:solidFill>
                <a:latin typeface="Newsreader"/>
              </a:rPr>
              <a:t>face.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You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see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exactly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where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you </a:t>
            </a:r>
            <a:r>
              <a:rPr sz="2000" b="1" i="1">
                <a:solidFill>
                  <a:srgbClr val="A8BAA0"/>
                </a:solidFill>
                <a:latin typeface="Newsreader"/>
              </a:rPr>
              <a:t>stand.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9875520"/>
          </a:xfrm>
          <a:prstGeom prst="rect">
            <a:avLst/>
          </a:prstGeom>
          <a:solidFill>
            <a:srgbClr val="13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500">
                <a:solidFill>
                  <a:srgbClr val="A8BAA0"/>
                </a:solidFill>
                <a:latin typeface="JetBrains Mono"/>
              </a:rPr>
              <a:t>· · ·  BEFORE &amp; AFTER  · · 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7782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0" i="0">
                <a:solidFill>
                  <a:srgbClr val="F3EEF0"/>
                </a:solidFill>
                <a:latin typeface="Newsreader"/>
              </a:rPr>
              <a:t>From confused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7782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0" i="0">
                <a:solidFill>
                  <a:srgbClr val="F3EEF0"/>
                </a:solidFill>
                <a:latin typeface="Newsreader"/>
              </a:rPr>
              <a:t>to </a:t>
            </a:r>
            <a:r>
              <a:rPr sz="7200" b="1" i="1">
                <a:solidFill>
                  <a:srgbClr val="C485C9"/>
                </a:solidFill>
                <a:latin typeface="Newsreader"/>
              </a:rPr>
              <a:t>clear</a:t>
            </a:r>
            <a:r>
              <a:rPr sz="7200" b="0" i="0">
                <a:solidFill>
                  <a:srgbClr val="C485C9"/>
                </a:solidFill>
                <a:latin typeface="Newsreader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4160520"/>
            <a:ext cx="2194560" cy="36000"/>
          </a:xfrm>
          <a:prstGeom prst="rect">
            <a:avLst/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miley-2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5029200"/>
            <a:ext cx="2377440" cy="2377440"/>
          </a:xfrm>
          <a:prstGeom prst="rect">
            <a:avLst/>
          </a:prstGeom>
        </p:spPr>
      </p:pic>
      <p:pic>
        <p:nvPicPr>
          <p:cNvPr id="8" name="Picture 7" descr="thanky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754880"/>
            <a:ext cx="2377440" cy="2852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20" y="749807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 spc="400">
                <a:solidFill>
                  <a:srgbClr val="A8BAA0"/>
                </a:solidFill>
                <a:latin typeface="JetBrains Mono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7909559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1">
                <a:solidFill>
                  <a:srgbClr val="9A8F98"/>
                </a:solidFill>
                <a:latin typeface="Newsreader"/>
              </a:rPr>
              <a:t>Fifteen pages of fine print.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749807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 spc="400">
                <a:solidFill>
                  <a:srgbClr val="A8BAA0"/>
                </a:solidFill>
                <a:latin typeface="JetBrains Mono"/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7909559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1">
                <a:solidFill>
                  <a:srgbClr val="F3EEF0"/>
                </a:solidFill>
                <a:latin typeface="Newsreader"/>
              </a:rPr>
              <a:t>A two-minute audit.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9875520"/>
          </a:xfrm>
          <a:prstGeom prst="rect">
            <a:avLst/>
          </a:prstGeom>
          <a:solidFill>
            <a:srgbClr val="13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500">
                <a:solidFill>
                  <a:srgbClr val="A8BAA0"/>
                </a:solidFill>
                <a:latin typeface="JetBrains Mono"/>
              </a:rPr>
              <a:t>· · ·  WHAT’S BREWING  · · 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877824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0" b="0" i="0">
                <a:solidFill>
                  <a:srgbClr val="F3EEF0"/>
                </a:solidFill>
                <a:latin typeface="Newsreader"/>
              </a:rPr>
              <a:t>Phase 2 is</a:t>
            </a:r>
          </a:p>
          <a:p>
            <a:pPr algn="ctr">
              <a:lnSpc>
                <a:spcPct val="110000"/>
              </a:lnSpc>
            </a:pPr>
            <a:r>
              <a:rPr sz="5600" b="0" i="1">
                <a:solidFill>
                  <a:srgbClr val="C485C9"/>
                </a:solidFill>
                <a:latin typeface="Newsreader"/>
              </a:rPr>
              <a:t>brewing.</a:t>
            </a:r>
          </a:p>
        </p:txBody>
      </p:sp>
      <p:pic>
        <p:nvPicPr>
          <p:cNvPr id="5" name="Picture 4" descr="sed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0"/>
            <a:ext cx="2926080" cy="1828800"/>
          </a:xfrm>
          <a:prstGeom prst="rect">
            <a:avLst/>
          </a:prstGeom>
        </p:spPr>
      </p:pic>
      <p:pic>
        <p:nvPicPr>
          <p:cNvPr id="6" name="Picture 5" descr="hatch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572000"/>
            <a:ext cx="2926080" cy="1828800"/>
          </a:xfrm>
          <a:prstGeom prst="rect">
            <a:avLst/>
          </a:prstGeom>
        </p:spPr>
      </p:pic>
      <p:pic>
        <p:nvPicPr>
          <p:cNvPr id="7" name="Picture 6" descr="su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572000"/>
            <a:ext cx="2926080" cy="1828800"/>
          </a:xfrm>
          <a:prstGeom prst="rect">
            <a:avLst/>
          </a:prstGeom>
        </p:spPr>
      </p:pic>
      <p:pic>
        <p:nvPicPr>
          <p:cNvPr id="8" name="Picture 7" descr="motion-s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6766560"/>
            <a:ext cx="9144000" cy="76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7863840"/>
            <a:ext cx="8595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0" i="1">
                <a:solidFill>
                  <a:srgbClr val="F3EEF0"/>
                </a:solidFill>
                <a:latin typeface="Newsreader"/>
              </a:rPr>
              <a:t>We’re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building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something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that’ll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change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how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you </a:t>
            </a:r>
            <a:r>
              <a:rPr sz="2000" b="0" i="1">
                <a:solidFill>
                  <a:srgbClr val="F3EEF0"/>
                </a:solidFill>
                <a:latin typeface="Newsreader"/>
              </a:rPr>
              <a:t>renew. </a:t>
            </a:r>
            <a:r>
              <a:rPr sz="2000" b="1" i="1">
                <a:solidFill>
                  <a:srgbClr val="A8BAA0"/>
                </a:solidFill>
                <a:latin typeface="Newsreader"/>
              </a:rPr>
              <a:t>Stay </a:t>
            </a:r>
            <a:r>
              <a:rPr sz="2000" b="1" i="1">
                <a:solidFill>
                  <a:srgbClr val="A8BAA0"/>
                </a:solidFill>
                <a:latin typeface="Newsreader"/>
              </a:rPr>
              <a:t>close.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9875520"/>
          </a:xfrm>
          <a:prstGeom prst="rect">
            <a:avLst/>
          </a:prstGeom>
          <a:solidFill>
            <a:srgbClr val="13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500">
                <a:solidFill>
                  <a:srgbClr val="A8BAA0"/>
                </a:solidFill>
                <a:latin typeface="JetBrains Mono"/>
              </a:rPr>
              <a:t>· · ·  FORWARD YOUR POLICY  · · ·</a:t>
            </a:r>
          </a:p>
        </p:txBody>
      </p:sp>
      <p:pic>
        <p:nvPicPr>
          <p:cNvPr id="4" name="Picture 3" descr="envel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2560320" cy="20482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8912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spc="500">
                <a:solidFill>
                  <a:srgbClr val="A8BAA0"/>
                </a:solidFill>
                <a:latin typeface="JetBrains Mono"/>
              </a:rPr>
              <a:t>FORWARD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937760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 i="1">
                <a:solidFill>
                  <a:srgbClr val="C485C9"/>
                </a:solidFill>
                <a:latin typeface="Newsreader"/>
              </a:rPr>
              <a:t>review@rightoffer.in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989320"/>
            <a:ext cx="7132320" cy="36000"/>
          </a:xfrm>
          <a:prstGeom prst="rect">
            <a:avLst/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8595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0" i="1">
                <a:solidFill>
                  <a:srgbClr val="F3EEF0"/>
                </a:solidFill>
                <a:latin typeface="Newsreader"/>
              </a:rPr>
              <a:t>Two </a:t>
            </a:r>
            <a:r>
              <a:rPr sz="2200" b="0" i="1">
                <a:solidFill>
                  <a:srgbClr val="F3EEF0"/>
                </a:solidFill>
                <a:latin typeface="Newsreader"/>
              </a:rPr>
              <a:t>minutes. </a:t>
            </a:r>
            <a:r>
              <a:rPr sz="2200" b="0" i="1">
                <a:solidFill>
                  <a:srgbClr val="F3EEF0"/>
                </a:solidFill>
                <a:latin typeface="Newsreader"/>
              </a:rPr>
              <a:t>No </a:t>
            </a:r>
            <a:r>
              <a:rPr sz="2200" b="0" i="1">
                <a:solidFill>
                  <a:srgbClr val="F3EEF0"/>
                </a:solidFill>
                <a:latin typeface="Newsreader"/>
              </a:rPr>
              <a:t>signup. </a:t>
            </a:r>
            <a:r>
              <a:rPr sz="2200" b="0" i="1">
                <a:solidFill>
                  <a:srgbClr val="F3EEF0"/>
                </a:solidFill>
                <a:latin typeface="Newsreader"/>
              </a:rPr>
              <a:t>The </a:t>
            </a:r>
            <a:r>
              <a:rPr sz="2200" b="1" i="1">
                <a:solidFill>
                  <a:srgbClr val="A8BAA0"/>
                </a:solidFill>
                <a:latin typeface="Newsreader"/>
              </a:rPr>
              <a:t>audit </a:t>
            </a:r>
            <a:r>
              <a:rPr sz="2200" b="0" i="1">
                <a:solidFill>
                  <a:srgbClr val="F3EEF0"/>
                </a:solidFill>
                <a:latin typeface="Newsreader"/>
              </a:rPr>
              <a:t>is </a:t>
            </a:r>
            <a:r>
              <a:rPr sz="2200" b="0" i="1">
                <a:solidFill>
                  <a:srgbClr val="F3EEF0"/>
                </a:solidFill>
                <a:latin typeface="Newsreader"/>
              </a:rPr>
              <a:t>on </a:t>
            </a:r>
            <a:r>
              <a:rPr sz="2200" b="1" i="1">
                <a:solidFill>
                  <a:srgbClr val="A8BAA0"/>
                </a:solidFill>
                <a:latin typeface="Newsreader"/>
              </a:rPr>
              <a:t>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04672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 spc="300">
                <a:solidFill>
                  <a:srgbClr val="9A8F98"/>
                </a:solidFill>
                <a:latin typeface="JetBrains Mono"/>
              </a:rPr>
              <a:t>rightoffer.in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2736" y="8851392"/>
            <a:ext cx="2926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1">
                <a:solidFill>
                  <a:srgbClr val="C485C9"/>
                </a:solidFill>
                <a:latin typeface="Newsreader"/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1064" y="8887968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spc="300">
                <a:solidFill>
                  <a:srgbClr val="F3EEF0"/>
                </a:solidFill>
                <a:latin typeface="Newsreader"/>
              </a:rPr>
              <a:t>RIGHTOFFER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9864" y="8942832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A8B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 spc="300">
                <a:solidFill>
                  <a:srgbClr val="13100F"/>
                </a:solidFill>
                <a:latin typeface="JetBrains Mono"/>
              </a:rPr>
              <a:t>CAR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